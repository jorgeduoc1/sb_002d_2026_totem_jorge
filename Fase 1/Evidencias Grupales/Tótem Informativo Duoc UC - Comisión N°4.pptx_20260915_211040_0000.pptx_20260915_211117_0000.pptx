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Poppins" charset="1" panose="00000500000000000000"/>
      <p:regular r:id="rId19"/>
    </p:embeddedFont>
    <p:embeddedFont>
      <p:font typeface="Lato" charset="1" panose="020F0502020204030203"/>
      <p:regular r:id="rId20"/>
    </p:embeddedFont>
    <p:embeddedFont>
      <p:font typeface="Lato Bold" charset="1" panose="020F0502020204030203"/>
      <p:regular r:id="rId21"/>
    </p:embeddedFont>
    <p:embeddedFont>
      <p:font typeface="Poppins Bold" charset="1" panose="000008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486556"/>
            <a:ext cx="16573500" cy="1085850"/>
            <a:chOff x="0" y="0"/>
            <a:chExt cx="22098000" cy="14478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20980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57" r="0" b="-65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942975"/>
            <a:ext cx="3600450" cy="514350"/>
            <a:chOff x="0" y="0"/>
            <a:chExt cx="4800600" cy="6858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4800600" cy="685800"/>
            </a:xfrm>
            <a:custGeom>
              <a:avLst/>
              <a:gdLst/>
              <a:ahLst/>
              <a:cxnLst/>
              <a:rect r="r" b="b" t="t" l="l"/>
              <a:pathLst>
                <a:path h="685800" w="4800600">
                  <a:moveTo>
                    <a:pt x="0" y="0"/>
                  </a:moveTo>
                  <a:lnTo>
                    <a:pt x="4800600" y="0"/>
                  </a:lnTo>
                  <a:lnTo>
                    <a:pt x="48006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57250" y="4348829"/>
            <a:ext cx="17402175" cy="79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50"/>
              </a:lnSpc>
            </a:pPr>
            <a:r>
              <a:rPr lang="en-US" sz="5175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Tótem Informativo e Interactivo Duoc UC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7250" y="5161655"/>
            <a:ext cx="12858750" cy="623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Plataforma digital táctil de autogestión académica y orientación estudiantil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5875" y="8753256"/>
            <a:ext cx="5119611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Sede y Escuela</a:t>
            </a:r>
            <a:r>
              <a:rPr lang="en-US" sz="1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true">
                <a:solidFill>
                  <a:srgbClr val="0F172A"/>
                </a:solidFill>
                <a:latin typeface="Lato Bold"/>
                <a:ea typeface="Lato Bold"/>
                <a:cs typeface="Lato Bold"/>
                <a:sym typeface="Lato Bold"/>
              </a:rPr>
              <a:t>Sede San Bernardo — Informática y Telecom.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19799" y="8753256"/>
            <a:ext cx="5119611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Carrera y Año</a:t>
            </a:r>
            <a:r>
              <a:rPr lang="en-US" sz="1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true">
                <a:solidFill>
                  <a:srgbClr val="0F172A"/>
                </a:solidFill>
                <a:latin typeface="Lato Bold"/>
                <a:ea typeface="Lato Bold"/>
                <a:cs typeface="Lato Bold"/>
                <a:sym typeface="Lato Bold"/>
              </a:rPr>
              <a:t>Ingeniería en Informática — 2025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953723" y="8753256"/>
            <a:ext cx="511984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Equipo &amp; Docente</a:t>
            </a:r>
            <a:r>
              <a:rPr lang="en-US" sz="1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true">
                <a:solidFill>
                  <a:srgbClr val="0F172A"/>
                </a:solidFill>
                <a:latin typeface="Lato Bold"/>
                <a:ea typeface="Lato Bold"/>
                <a:cs typeface="Lato Bold"/>
                <a:sym typeface="Lato Bold"/>
              </a:rPr>
              <a:t>Equipo de Alumnos | Docente Guía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6037719" y="714375"/>
            <a:ext cx="1393031" cy="928688"/>
            <a:chOff x="0" y="0"/>
            <a:chExt cx="1857375" cy="1238250"/>
          </a:xfrm>
        </p:grpSpPr>
        <p:sp>
          <p:nvSpPr>
            <p:cNvPr name="Freeform 14" id="14" descr="image.png"/>
            <p:cNvSpPr/>
            <p:nvPr/>
          </p:nvSpPr>
          <p:spPr>
            <a:xfrm flipH="false" flipV="false" rot="0">
              <a:off x="0" y="0"/>
              <a:ext cx="1857375" cy="1238250"/>
            </a:xfrm>
            <a:custGeom>
              <a:avLst/>
              <a:gdLst/>
              <a:ahLst/>
              <a:cxnLst/>
              <a:rect r="r" b="b" t="t" l="l"/>
              <a:pathLst>
                <a:path h="1238250" w="1857375">
                  <a:moveTo>
                    <a:pt x="0" y="0"/>
                  </a:moveTo>
                  <a:lnTo>
                    <a:pt x="1857375" y="0"/>
                  </a:lnTo>
                  <a:lnTo>
                    <a:pt x="1857375" y="1238250"/>
                  </a:lnTo>
                  <a:lnTo>
                    <a:pt x="0" y="1238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56" t="0" r="-256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4432697"/>
            <a:ext cx="8036719" cy="2507456"/>
            <a:chOff x="0" y="0"/>
            <a:chExt cx="10715625" cy="3343275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715625" cy="3343275"/>
            </a:xfrm>
            <a:custGeom>
              <a:avLst/>
              <a:gdLst/>
              <a:ahLst/>
              <a:cxnLst/>
              <a:rect r="r" b="b" t="t" l="l"/>
              <a:pathLst>
                <a:path h="3343275" w="10715625">
                  <a:moveTo>
                    <a:pt x="0" y="0"/>
                  </a:moveTo>
                  <a:lnTo>
                    <a:pt x="10715625" y="0"/>
                  </a:lnTo>
                  <a:lnTo>
                    <a:pt x="10715625" y="3343275"/>
                  </a:lnTo>
                  <a:lnTo>
                    <a:pt x="0" y="33432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8" r="0" b="-9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394031" y="4432697"/>
            <a:ext cx="8036719" cy="2507456"/>
            <a:chOff x="0" y="0"/>
            <a:chExt cx="10715625" cy="3343275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715625" cy="3343275"/>
            </a:xfrm>
            <a:custGeom>
              <a:avLst/>
              <a:gdLst/>
              <a:ahLst/>
              <a:cxnLst/>
              <a:rect r="r" b="b" t="t" l="l"/>
              <a:pathLst>
                <a:path h="3343275" w="10715625">
                  <a:moveTo>
                    <a:pt x="0" y="0"/>
                  </a:moveTo>
                  <a:lnTo>
                    <a:pt x="10715625" y="0"/>
                  </a:lnTo>
                  <a:lnTo>
                    <a:pt x="10715625" y="3343275"/>
                  </a:lnTo>
                  <a:lnTo>
                    <a:pt x="0" y="33432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98" r="0" b="-98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328738" y="4775597"/>
            <a:ext cx="7523436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Resumen de la Temática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28738" y="5332809"/>
            <a:ext cx="7165181" cy="1207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sz="191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Duoc UC Sede San Bernardo experimenta alta demanda de información presencial por parte de los alumnos, generando aglomeraciones en los puntos de atención en horas peak.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65519" y="4775597"/>
            <a:ext cx="7523436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Importancia de Resolver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65519" y="5332809"/>
            <a:ext cx="7165181" cy="1207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sz="191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Automatizar las consultas habituales sobre salas, horarios y trámites mediante un tótem táctil reduce tiempos de espera, optimiza recursos y moderniza la experiencia en el campus.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7250" y="657225"/>
            <a:ext cx="17402175" cy="785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0F172A"/>
                </a:solidFill>
                <a:latin typeface="Poppins Bold"/>
                <a:ea typeface="Poppins Bold"/>
                <a:cs typeface="Poppins Bold"/>
                <a:sym typeface="Poppins Bold"/>
              </a:rPr>
              <a:t>Entorno de Negocio: Introducción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57250" y="3932634"/>
            <a:ext cx="8036719" cy="1207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sz="1911" b="true">
                <a:solidFill>
                  <a:srgbClr val="334155"/>
                </a:solidFill>
                <a:latin typeface="Lato Bold"/>
                <a:ea typeface="Lato Bold"/>
                <a:cs typeface="Lato Bold"/>
                <a:sym typeface="Lato Bold"/>
              </a:rPr>
              <a:t>El Entorno Académico:</a:t>
            </a:r>
            <a:r>
              <a:rPr lang="en-US" sz="191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Durante el inicio de cada semestre o bloque de clases, cientos de estudiantes buscan ubicar salas, avisos de urgencia y contactos de Punto Estudiantil.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00188" y="5239941"/>
            <a:ext cx="7393781" cy="84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sz="1911" b="true">
                <a:solidFill>
                  <a:srgbClr val="0F172A"/>
                </a:solidFill>
                <a:latin typeface="Lato Bold"/>
                <a:ea typeface="Lato Bold"/>
                <a:cs typeface="Lato Bold"/>
                <a:sym typeface="Lato Bold"/>
              </a:rPr>
              <a:t>Problemática Principal:</a:t>
            </a:r>
            <a:r>
              <a:rPr lang="en-US" sz="191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Congestión en oficinas administrativas por consultas de carácter repetitivo.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00188" y="6225778"/>
            <a:ext cx="7393781" cy="84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sz="1911" b="true">
                <a:solidFill>
                  <a:srgbClr val="0F172A"/>
                </a:solidFill>
                <a:latin typeface="Lato Bold"/>
                <a:ea typeface="Lato Bold"/>
                <a:cs typeface="Lato Bold"/>
                <a:sym typeface="Lato Bold"/>
              </a:rPr>
              <a:t>Dependencia de Papel:</a:t>
            </a:r>
            <a:r>
              <a:rPr lang="en-US" sz="191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Uso excesivo de afiches impresos estáticos que pierden vigencia rápidamente.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36969" y="3932634"/>
            <a:ext cx="7393781" cy="84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sz="1911" b="true">
                <a:solidFill>
                  <a:srgbClr val="0F172A"/>
                </a:solidFill>
                <a:latin typeface="Lato Bold"/>
                <a:ea typeface="Lato Bold"/>
                <a:cs typeface="Lato Bold"/>
                <a:sym typeface="Lato Bold"/>
              </a:rPr>
              <a:t>Pérdida de Tiempo:</a:t>
            </a:r>
            <a:r>
              <a:rPr lang="en-US" sz="191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Atrasos de alumnos en el ingreso a sus clases por incertidumbre de ubicación de aulas.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36969" y="4918472"/>
            <a:ext cx="7393781" cy="84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sz="1911" b="true">
                <a:solidFill>
                  <a:srgbClr val="0F172A"/>
                </a:solidFill>
                <a:latin typeface="Lato Bold"/>
                <a:ea typeface="Lato Bold"/>
                <a:cs typeface="Lato Bold"/>
                <a:sym typeface="Lato Bold"/>
              </a:rPr>
              <a:t>Oportunidad Digital:</a:t>
            </a:r>
            <a:r>
              <a:rPr lang="en-US" sz="191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Integración de una solución interactiva de autoatención rápida e intuitiva.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57250" y="5375672"/>
            <a:ext cx="314325" cy="328612"/>
            <a:chOff x="0" y="0"/>
            <a:chExt cx="419100" cy="43815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419100" cy="438150"/>
            </a:xfrm>
            <a:custGeom>
              <a:avLst/>
              <a:gdLst/>
              <a:ahLst/>
              <a:cxnLst/>
              <a:rect r="r" b="b" t="t" l="l"/>
              <a:pathLst>
                <a:path h="43815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57250" y="6361509"/>
            <a:ext cx="314325" cy="328612"/>
            <a:chOff x="0" y="0"/>
            <a:chExt cx="419100" cy="438150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419100" cy="438150"/>
            </a:xfrm>
            <a:custGeom>
              <a:avLst/>
              <a:gdLst/>
              <a:ahLst/>
              <a:cxnLst/>
              <a:rect r="r" b="b" t="t" l="l"/>
              <a:pathLst>
                <a:path h="43815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394031" y="4068366"/>
            <a:ext cx="314325" cy="328612"/>
            <a:chOff x="0" y="0"/>
            <a:chExt cx="419100" cy="438150"/>
          </a:xfrm>
        </p:grpSpPr>
        <p:sp>
          <p:nvSpPr>
            <p:cNvPr name="Freeform 14" id="14" descr="image.png"/>
            <p:cNvSpPr/>
            <p:nvPr/>
          </p:nvSpPr>
          <p:spPr>
            <a:xfrm flipH="false" flipV="false" rot="0">
              <a:off x="0" y="0"/>
              <a:ext cx="419100" cy="438150"/>
            </a:xfrm>
            <a:custGeom>
              <a:avLst/>
              <a:gdLst/>
              <a:ahLst/>
              <a:cxnLst/>
              <a:rect r="r" b="b" t="t" l="l"/>
              <a:pathLst>
                <a:path h="43815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394031" y="5054203"/>
            <a:ext cx="314325" cy="328612"/>
            <a:chOff x="0" y="0"/>
            <a:chExt cx="419100" cy="43815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419100" cy="438150"/>
            </a:xfrm>
            <a:custGeom>
              <a:avLst/>
              <a:gdLst/>
              <a:ahLst/>
              <a:cxnLst/>
              <a:rect r="r" b="b" t="t" l="l"/>
              <a:pathLst>
                <a:path h="43815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857250" y="657225"/>
            <a:ext cx="17402175" cy="785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0F172A"/>
                </a:solidFill>
                <a:latin typeface="Poppins Bold"/>
                <a:ea typeface="Poppins Bold"/>
                <a:cs typeface="Poppins Bold"/>
                <a:sym typeface="Poppins Bold"/>
              </a:rPr>
              <a:t>Definición del Contexto y Problema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4250531"/>
            <a:ext cx="8036719" cy="2871788"/>
            <a:chOff x="0" y="0"/>
            <a:chExt cx="10715625" cy="38290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715625" cy="3829050"/>
            </a:xfrm>
            <a:custGeom>
              <a:avLst/>
              <a:gdLst/>
              <a:ahLst/>
              <a:cxnLst/>
              <a:rect r="r" b="b" t="t" l="l"/>
              <a:pathLst>
                <a:path h="3829050" w="10715625">
                  <a:moveTo>
                    <a:pt x="0" y="0"/>
                  </a:moveTo>
                  <a:lnTo>
                    <a:pt x="10715625" y="0"/>
                  </a:lnTo>
                  <a:lnTo>
                    <a:pt x="10715625" y="3829050"/>
                  </a:lnTo>
                  <a:lnTo>
                    <a:pt x="0" y="3829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03" r="0" b="-20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394031" y="4250531"/>
            <a:ext cx="8036719" cy="2871788"/>
            <a:chOff x="0" y="0"/>
            <a:chExt cx="10715625" cy="38290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715625" cy="3829050"/>
            </a:xfrm>
            <a:custGeom>
              <a:avLst/>
              <a:gdLst/>
              <a:ahLst/>
              <a:cxnLst/>
              <a:rect r="r" b="b" t="t" l="l"/>
              <a:pathLst>
                <a:path h="3829050" w="10715625">
                  <a:moveTo>
                    <a:pt x="0" y="0"/>
                  </a:moveTo>
                  <a:lnTo>
                    <a:pt x="10715625" y="0"/>
                  </a:lnTo>
                  <a:lnTo>
                    <a:pt x="10715625" y="3829050"/>
                  </a:lnTo>
                  <a:lnTo>
                    <a:pt x="0" y="3829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03" r="0" b="-20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328738" y="4593431"/>
            <a:ext cx="7523436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Objetivo General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28738" y="5150644"/>
            <a:ext cx="7165181" cy="1207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sz="191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Desarrollar e implementar un sistema de tótem informativo e interactivo con tecnología web responsiva (Laravel/Blade) y pantalla táctil para Duoc UC Sede San Bernardo.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65519" y="4593431"/>
            <a:ext cx="7523436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Objetivos Específicos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65519" y="5150644"/>
            <a:ext cx="7165181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sz="191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 Relevar requerimientos clave junto a Punto Estudiantil y alumnos.</a:t>
            </a:r>
          </a:p>
          <a:p>
            <a:pPr algn="l">
              <a:lnSpc>
                <a:spcPts val="2867"/>
              </a:lnSpc>
            </a:pPr>
            <a:r>
              <a:rPr lang="en-US" sz="191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2. Diseñar la arquitectura de software e interfaz de usuario UX/UI.</a:t>
            </a:r>
          </a:p>
          <a:p>
            <a:pPr algn="l">
              <a:lnSpc>
                <a:spcPts val="2867"/>
              </a:lnSpc>
            </a:pPr>
            <a:r>
              <a:rPr lang="en-US" sz="191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3. Construir los módulos de Salas, Horarios y Noticias.</a:t>
            </a:r>
          </a:p>
          <a:p>
            <a:pPr algn="l">
              <a:lnSpc>
                <a:spcPts val="2867"/>
              </a:lnSpc>
            </a:pPr>
            <a:r>
              <a:rPr lang="en-US" sz="191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4. Validar el prototipo en entorno real de sede.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7250" y="657225"/>
            <a:ext cx="17402175" cy="785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0F172A"/>
                </a:solidFill>
                <a:latin typeface="Poppins Bold"/>
                <a:ea typeface="Poppins Bold"/>
                <a:cs typeface="Poppins Bold"/>
                <a:sym typeface="Poppins Bold"/>
              </a:rPr>
              <a:t>Objetivos del Proyecto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57250" y="3000375"/>
            <a:ext cx="8036719" cy="84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sz="191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proyecto se ejecutó bajo el marco ágil </a:t>
            </a:r>
            <a:r>
              <a:rPr lang="en-US" sz="1911" b="true">
                <a:solidFill>
                  <a:srgbClr val="334155"/>
                </a:solidFill>
                <a:latin typeface="Lato Bold"/>
                <a:ea typeface="Lato Bold"/>
                <a:cs typeface="Lato Bold"/>
                <a:sym typeface="Lato Bold"/>
              </a:rPr>
              <a:t>Scrum</a:t>
            </a:r>
            <a:r>
              <a:rPr lang="en-US" sz="191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permitiendo entregas incrementales y adaptación frente a feedback temprano: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00188" y="4014788"/>
            <a:ext cx="7393781" cy="84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sz="1911" b="true">
                <a:solidFill>
                  <a:srgbClr val="0F172A"/>
                </a:solidFill>
                <a:latin typeface="Lato Bold"/>
                <a:ea typeface="Lato Bold"/>
                <a:cs typeface="Lato Bold"/>
                <a:sym typeface="Lato Bold"/>
              </a:rPr>
              <a:t>Sprints Iterativos:</a:t>
            </a:r>
            <a:r>
              <a:rPr lang="en-US" sz="191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Ciclos de desarrollo de 2 semanas con entregables funcionales probados en pantalla.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00188" y="5000625"/>
            <a:ext cx="7393781" cy="84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sz="1911" b="true">
                <a:solidFill>
                  <a:srgbClr val="0F172A"/>
                </a:solidFill>
                <a:latin typeface="Lato Bold"/>
                <a:ea typeface="Lato Bold"/>
                <a:cs typeface="Lato Bold"/>
                <a:sym typeface="Lato Bold"/>
              </a:rPr>
              <a:t>Roles Claros:</a:t>
            </a:r>
            <a:r>
              <a:rPr lang="en-US" sz="191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Product Owner (representante de Sede), Scrum Master y Equipo de Desarrollo.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57250" y="4150519"/>
            <a:ext cx="314325" cy="328612"/>
            <a:chOff x="0" y="0"/>
            <a:chExt cx="419100" cy="438150"/>
          </a:xfrm>
        </p:grpSpPr>
        <p:sp>
          <p:nvSpPr>
            <p:cNvPr name="Freeform 8" id="8" descr="image.png"/>
            <p:cNvSpPr/>
            <p:nvPr/>
          </p:nvSpPr>
          <p:spPr>
            <a:xfrm flipH="false" flipV="false" rot="0">
              <a:off x="0" y="0"/>
              <a:ext cx="419100" cy="438150"/>
            </a:xfrm>
            <a:custGeom>
              <a:avLst/>
              <a:gdLst/>
              <a:ahLst/>
              <a:cxnLst/>
              <a:rect r="r" b="b" t="t" l="l"/>
              <a:pathLst>
                <a:path h="43815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57250" y="5136356"/>
            <a:ext cx="400050" cy="328612"/>
            <a:chOff x="0" y="0"/>
            <a:chExt cx="533400" cy="43815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533400" cy="438150"/>
            </a:xfrm>
            <a:custGeom>
              <a:avLst/>
              <a:gdLst/>
              <a:ahLst/>
              <a:cxnLst/>
              <a:rect r="r" b="b" t="t" l="l"/>
              <a:pathLst>
                <a:path h="43815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57250" y="657225"/>
            <a:ext cx="17402175" cy="785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0F172A"/>
                </a:solidFill>
                <a:latin typeface="Poppins Bold"/>
                <a:ea typeface="Poppins Bold"/>
                <a:cs typeface="Poppins Bold"/>
                <a:sym typeface="Poppins Bold"/>
              </a:rPr>
              <a:t>Metodología de Trabajo: Scrum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5657850"/>
            <a:ext cx="16573500" cy="57150"/>
            <a:chOff x="0" y="0"/>
            <a:chExt cx="22098000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98000" cy="76200"/>
            </a:xfrm>
            <a:custGeom>
              <a:avLst/>
              <a:gdLst/>
              <a:ahLst/>
              <a:cxnLst/>
              <a:rect r="r" b="b" t="t" l="l"/>
              <a:pathLst>
                <a:path h="762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761952" y="5962650"/>
            <a:ext cx="4002453" cy="452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4"/>
              </a:lnSpc>
            </a:pPr>
            <a:r>
              <a:rPr lang="en-US" sz="2136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Fase 1: Levantamiento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250" y="6443662"/>
            <a:ext cx="3811857" cy="1207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7"/>
              </a:lnSpc>
            </a:pPr>
            <a:r>
              <a:rPr lang="en-US" sz="191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Definición del Product Backlog, historias de usuario y maquetación en Figma.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015836" y="4048125"/>
            <a:ext cx="4002453" cy="452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4"/>
              </a:lnSpc>
            </a:pPr>
            <a:r>
              <a:rPr lang="en-US" sz="2136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Fase 2: Arquitectura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11125" y="4529138"/>
            <a:ext cx="3811857" cy="84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7"/>
              </a:lnSpc>
            </a:pPr>
            <a:r>
              <a:rPr lang="en-US" sz="191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Configuración de entorno Laravel, base de datos y modelo E-R.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269711" y="5962650"/>
            <a:ext cx="4002453" cy="452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4"/>
              </a:lnSpc>
            </a:pPr>
            <a:r>
              <a:rPr lang="en-US" sz="2136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Fase 3: Desarrollo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65009" y="6443662"/>
            <a:ext cx="3811857" cy="84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7"/>
              </a:lnSpc>
            </a:pPr>
            <a:r>
              <a:rPr lang="en-US" sz="191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Construcción de módulos táctiles, vistas Blade y conexión a API/BD.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523595" y="4048125"/>
            <a:ext cx="4002453" cy="452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4"/>
              </a:lnSpc>
            </a:pPr>
            <a:r>
              <a:rPr lang="en-US" sz="2136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Fase 4: QA &amp; Despliegue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618893" y="4529138"/>
            <a:ext cx="3811857" cy="84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7"/>
              </a:lnSpc>
            </a:pPr>
            <a:r>
              <a:rPr lang="en-US" sz="191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Pruebas de usabilidad táctil, modo kiosco y entrega a comisión.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570302" y="5493544"/>
            <a:ext cx="385762" cy="385762"/>
            <a:chOff x="0" y="0"/>
            <a:chExt cx="514350" cy="5143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4350" cy="514350"/>
            </a:xfrm>
            <a:custGeom>
              <a:avLst/>
              <a:gdLst/>
              <a:ahLst/>
              <a:cxnLst/>
              <a:rect r="r" b="b" t="t" l="l"/>
              <a:pathLst>
                <a:path h="514350" w="514350">
                  <a:moveTo>
                    <a:pt x="0" y="257175"/>
                  </a:moveTo>
                  <a:cubicBezTo>
                    <a:pt x="0" y="115189"/>
                    <a:pt x="115189" y="0"/>
                    <a:pt x="257175" y="0"/>
                  </a:cubicBezTo>
                  <a:cubicBezTo>
                    <a:pt x="399161" y="0"/>
                    <a:pt x="514350" y="115189"/>
                    <a:pt x="514350" y="257175"/>
                  </a:cubicBezTo>
                  <a:cubicBezTo>
                    <a:pt x="514350" y="399161"/>
                    <a:pt x="399161" y="514350"/>
                    <a:pt x="257175" y="514350"/>
                  </a:cubicBezTo>
                  <a:cubicBezTo>
                    <a:pt x="115189" y="514350"/>
                    <a:pt x="0" y="399161"/>
                    <a:pt x="0" y="257175"/>
                  </a:cubicBez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6824177" y="5493544"/>
            <a:ext cx="385762" cy="385762"/>
            <a:chOff x="0" y="0"/>
            <a:chExt cx="514350" cy="5143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14350" cy="514350"/>
            </a:xfrm>
            <a:custGeom>
              <a:avLst/>
              <a:gdLst/>
              <a:ahLst/>
              <a:cxnLst/>
              <a:rect r="r" b="b" t="t" l="l"/>
              <a:pathLst>
                <a:path h="514350" w="514350">
                  <a:moveTo>
                    <a:pt x="0" y="257175"/>
                  </a:moveTo>
                  <a:cubicBezTo>
                    <a:pt x="0" y="115189"/>
                    <a:pt x="115189" y="0"/>
                    <a:pt x="257175" y="0"/>
                  </a:cubicBezTo>
                  <a:cubicBezTo>
                    <a:pt x="399161" y="0"/>
                    <a:pt x="514350" y="115189"/>
                    <a:pt x="514350" y="257175"/>
                  </a:cubicBezTo>
                  <a:cubicBezTo>
                    <a:pt x="514350" y="399161"/>
                    <a:pt x="399161" y="514350"/>
                    <a:pt x="257175" y="514350"/>
                  </a:cubicBezTo>
                  <a:cubicBezTo>
                    <a:pt x="115189" y="514350"/>
                    <a:pt x="0" y="399161"/>
                    <a:pt x="0" y="257175"/>
                  </a:cubicBez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1078061" y="5493544"/>
            <a:ext cx="385762" cy="385762"/>
            <a:chOff x="0" y="0"/>
            <a:chExt cx="514350" cy="5143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4350" cy="514350"/>
            </a:xfrm>
            <a:custGeom>
              <a:avLst/>
              <a:gdLst/>
              <a:ahLst/>
              <a:cxnLst/>
              <a:rect r="r" b="b" t="t" l="l"/>
              <a:pathLst>
                <a:path h="514350" w="514350">
                  <a:moveTo>
                    <a:pt x="0" y="257175"/>
                  </a:moveTo>
                  <a:cubicBezTo>
                    <a:pt x="0" y="115189"/>
                    <a:pt x="115189" y="0"/>
                    <a:pt x="257175" y="0"/>
                  </a:cubicBezTo>
                  <a:cubicBezTo>
                    <a:pt x="399161" y="0"/>
                    <a:pt x="514350" y="115189"/>
                    <a:pt x="514350" y="257175"/>
                  </a:cubicBezTo>
                  <a:cubicBezTo>
                    <a:pt x="514350" y="399161"/>
                    <a:pt x="399161" y="514350"/>
                    <a:pt x="257175" y="514350"/>
                  </a:cubicBezTo>
                  <a:cubicBezTo>
                    <a:pt x="115189" y="514350"/>
                    <a:pt x="0" y="399161"/>
                    <a:pt x="0" y="257175"/>
                  </a:cubicBez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5331935" y="5493544"/>
            <a:ext cx="385762" cy="385762"/>
            <a:chOff x="0" y="0"/>
            <a:chExt cx="514350" cy="5143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14350" cy="514350"/>
            </a:xfrm>
            <a:custGeom>
              <a:avLst/>
              <a:gdLst/>
              <a:ahLst/>
              <a:cxnLst/>
              <a:rect r="r" b="b" t="t" l="l"/>
              <a:pathLst>
                <a:path h="514350" w="514350">
                  <a:moveTo>
                    <a:pt x="0" y="257175"/>
                  </a:moveTo>
                  <a:cubicBezTo>
                    <a:pt x="0" y="115189"/>
                    <a:pt x="115189" y="0"/>
                    <a:pt x="257175" y="0"/>
                  </a:cubicBezTo>
                  <a:cubicBezTo>
                    <a:pt x="399161" y="0"/>
                    <a:pt x="514350" y="115189"/>
                    <a:pt x="514350" y="257175"/>
                  </a:cubicBezTo>
                  <a:cubicBezTo>
                    <a:pt x="514350" y="399161"/>
                    <a:pt x="399161" y="514350"/>
                    <a:pt x="257175" y="514350"/>
                  </a:cubicBezTo>
                  <a:cubicBezTo>
                    <a:pt x="115189" y="514350"/>
                    <a:pt x="0" y="399161"/>
                    <a:pt x="0" y="257175"/>
                  </a:cubicBez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857250" y="657225"/>
            <a:ext cx="17402175" cy="785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0F172A"/>
                </a:solidFill>
                <a:latin typeface="Poppins Bold"/>
                <a:ea typeface="Poppins Bold"/>
                <a:cs typeface="Poppins Bold"/>
                <a:sym typeface="Poppins Bold"/>
              </a:rPr>
              <a:t>Planificación y Herramientas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2618" y="701116"/>
            <a:ext cx="15561926" cy="8753589"/>
            <a:chOff x="0" y="0"/>
            <a:chExt cx="20749235" cy="11671452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0749261" cy="11671427"/>
            </a:xfrm>
            <a:custGeom>
              <a:avLst/>
              <a:gdLst/>
              <a:ahLst/>
              <a:cxnLst/>
              <a:rect r="r" b="b" t="t" l="l"/>
              <a:pathLst>
                <a:path h="11671427" w="20749261">
                  <a:moveTo>
                    <a:pt x="0" y="0"/>
                  </a:moveTo>
                  <a:lnTo>
                    <a:pt x="20749261" y="0"/>
                  </a:lnTo>
                  <a:lnTo>
                    <a:pt x="20749261" y="11671427"/>
                  </a:lnTo>
                  <a:lnTo>
                    <a:pt x="0" y="11671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57250" y="657225"/>
            <a:ext cx="8401050" cy="785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0F172A"/>
                </a:solidFill>
                <a:latin typeface="Poppins Bold"/>
                <a:ea typeface="Poppins Bold"/>
                <a:cs typeface="Poppins Bold"/>
                <a:sym typeface="Poppins Bold"/>
              </a:rPr>
              <a:t>Propuesta de Solución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429750" y="0"/>
            <a:ext cx="8858250" cy="10287000"/>
            <a:chOff x="0" y="0"/>
            <a:chExt cx="11811000" cy="13716000"/>
          </a:xfrm>
        </p:grpSpPr>
        <p:sp>
          <p:nvSpPr>
            <p:cNvPr name="Freeform 6" id="6" descr="image.png"/>
            <p:cNvSpPr/>
            <p:nvPr/>
          </p:nvSpPr>
          <p:spPr>
            <a:xfrm flipH="false" flipV="false" rot="0">
              <a:off x="0" y="0"/>
              <a:ext cx="11811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1811000">
                  <a:moveTo>
                    <a:pt x="0" y="0"/>
                  </a:moveTo>
                  <a:lnTo>
                    <a:pt x="11811000" y="0"/>
                  </a:lnTo>
                  <a:lnTo>
                    <a:pt x="11811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857250" y="1743075"/>
            <a:ext cx="8401050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Plataforma Tótem Digital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7250" y="2300288"/>
            <a:ext cx="8001000" cy="84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sz="191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Una solución web en formato Kiosco que permite a los estudiantes consultar en tiempo real salas de clases, la cartelera de eventos y trámites frecuentes.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7250" y="3603603"/>
            <a:ext cx="8001000" cy="84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sz="191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Diseñada con interfaz de alta legibilidad, navegación táctil directa y rápida tasa de respuesta.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4025503"/>
            <a:ext cx="5286375" cy="3321844"/>
            <a:chOff x="0" y="0"/>
            <a:chExt cx="7048500" cy="4429125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7048500" cy="4429125"/>
            </a:xfrm>
            <a:custGeom>
              <a:avLst/>
              <a:gdLst/>
              <a:ahLst/>
              <a:cxnLst/>
              <a:rect r="r" b="b" t="t" l="l"/>
              <a:pathLst>
                <a:path h="4429125" w="7048500">
                  <a:moveTo>
                    <a:pt x="0" y="0"/>
                  </a:moveTo>
                  <a:lnTo>
                    <a:pt x="7048500" y="0"/>
                  </a:lnTo>
                  <a:lnTo>
                    <a:pt x="7048500" y="4429125"/>
                  </a:lnTo>
                  <a:lnTo>
                    <a:pt x="0" y="44291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22" r="0" b="-32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500812" y="4025503"/>
            <a:ext cx="5286375" cy="3321844"/>
            <a:chOff x="0" y="0"/>
            <a:chExt cx="7048500" cy="4429125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7048500" cy="4429125"/>
            </a:xfrm>
            <a:custGeom>
              <a:avLst/>
              <a:gdLst/>
              <a:ahLst/>
              <a:cxnLst/>
              <a:rect r="r" b="b" t="t" l="l"/>
              <a:pathLst>
                <a:path h="4429125" w="7048500">
                  <a:moveTo>
                    <a:pt x="0" y="0"/>
                  </a:moveTo>
                  <a:lnTo>
                    <a:pt x="7048500" y="0"/>
                  </a:lnTo>
                  <a:lnTo>
                    <a:pt x="7048500" y="4429125"/>
                  </a:lnTo>
                  <a:lnTo>
                    <a:pt x="0" y="44291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22" r="0" b="-32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44375" y="4025503"/>
            <a:ext cx="5286375" cy="3321844"/>
            <a:chOff x="0" y="0"/>
            <a:chExt cx="7048500" cy="4429125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7048500" cy="4429125"/>
            </a:xfrm>
            <a:custGeom>
              <a:avLst/>
              <a:gdLst/>
              <a:ahLst/>
              <a:cxnLst/>
              <a:rect r="r" b="b" t="t" l="l"/>
              <a:pathLst>
                <a:path h="4429125" w="7048500">
                  <a:moveTo>
                    <a:pt x="0" y="0"/>
                  </a:moveTo>
                  <a:lnTo>
                    <a:pt x="7048500" y="0"/>
                  </a:lnTo>
                  <a:lnTo>
                    <a:pt x="7048500" y="4429125"/>
                  </a:lnTo>
                  <a:lnTo>
                    <a:pt x="0" y="44291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22" r="0" b="-322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15139" y="5211366"/>
            <a:ext cx="4770596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475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Backend &amp; BD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8725" y="5768578"/>
            <a:ext cx="4543425" cy="1207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7"/>
              </a:lnSpc>
            </a:pPr>
            <a:r>
              <a:rPr lang="en-US" sz="191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Framework Laravel (PHP) con arquitectura MVC robusta y base de datos relacional MySQL optimizada.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758702" y="5211366"/>
            <a:ext cx="4770596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475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Frontend Táctil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72288" y="5768578"/>
            <a:ext cx="4543425" cy="1207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7"/>
              </a:lnSpc>
            </a:pPr>
            <a:r>
              <a:rPr lang="en-US" sz="191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Vistas renderizadas con Blade, CSS Grid/Flexbox y componentes JavaScript adaptados a pantalla táctil.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402264" y="5211366"/>
            <a:ext cx="4770596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475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Hardware &amp; Kiosco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15850" y="5768578"/>
            <a:ext cx="4543425" cy="1207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7"/>
              </a:lnSpc>
            </a:pPr>
            <a:r>
              <a:rPr lang="en-US" sz="191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Gabinete industrial resistente con pantalla de 32" táctil y sistema seguro en Modo Kiosco dedicado.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3228975" y="4468416"/>
            <a:ext cx="542925" cy="542925"/>
            <a:chOff x="0" y="0"/>
            <a:chExt cx="723900" cy="7239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723900" cy="723900"/>
            </a:xfrm>
            <a:custGeom>
              <a:avLst/>
              <a:gdLst/>
              <a:ahLst/>
              <a:cxnLst/>
              <a:rect r="r" b="b" t="t" l="l"/>
              <a:pathLst>
                <a:path h="723900" w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836819" y="4468416"/>
            <a:ext cx="614362" cy="542925"/>
            <a:chOff x="0" y="0"/>
            <a:chExt cx="819150" cy="7239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819150" cy="723900"/>
            </a:xfrm>
            <a:custGeom>
              <a:avLst/>
              <a:gdLst/>
              <a:ahLst/>
              <a:cxnLst/>
              <a:rect r="r" b="b" t="t" l="l"/>
              <a:pathLst>
                <a:path h="723900" w="819150">
                  <a:moveTo>
                    <a:pt x="0" y="0"/>
                  </a:moveTo>
                  <a:lnTo>
                    <a:pt x="819150" y="0"/>
                  </a:lnTo>
                  <a:lnTo>
                    <a:pt x="81915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49" r="0" b="-149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516100" y="4468416"/>
            <a:ext cx="542925" cy="542925"/>
            <a:chOff x="0" y="0"/>
            <a:chExt cx="723900" cy="7239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723900" cy="723900"/>
            </a:xfrm>
            <a:custGeom>
              <a:avLst/>
              <a:gdLst/>
              <a:ahLst/>
              <a:cxnLst/>
              <a:rect r="r" b="b" t="t" l="l"/>
              <a:pathLst>
                <a:path h="723900" w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857250" y="657225"/>
            <a:ext cx="17402175" cy="785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0F172A"/>
                </a:solidFill>
                <a:latin typeface="Poppins Bold"/>
                <a:ea typeface="Poppins Bold"/>
                <a:cs typeface="Poppins Bold"/>
                <a:sym typeface="Poppins Bold"/>
              </a:rPr>
              <a:t>Componentes de la Solución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643188" y="4329112"/>
            <a:ext cx="13644562" cy="47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sz="1911" b="true">
                <a:solidFill>
                  <a:srgbClr val="0F172A"/>
                </a:solidFill>
                <a:latin typeface="Lato Bold"/>
                <a:ea typeface="Lato Bold"/>
                <a:cs typeface="Lato Bold"/>
                <a:sym typeface="Lato Bold"/>
              </a:rPr>
              <a:t>Product Backlog Priorizado:</a:t>
            </a:r>
            <a:r>
              <a:rPr lang="en-US" sz="191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Registro de historias de usuario (US) validadas con el Product Owner de la sede.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43188" y="4950619"/>
            <a:ext cx="13644562" cy="47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sz="1911" b="true">
                <a:solidFill>
                  <a:srgbClr val="0F172A"/>
                </a:solidFill>
                <a:latin typeface="Lato Bold"/>
                <a:ea typeface="Lato Bold"/>
                <a:cs typeface="Lato Bold"/>
                <a:sym typeface="Lato Bold"/>
              </a:rPr>
              <a:t>Diagramas de Arquitectura y Casos de Uso:</a:t>
            </a:r>
            <a:r>
              <a:rPr lang="en-US" sz="191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Mapeo de interacciones del usuario y flujos del sistema en el tótem.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43188" y="5572125"/>
            <a:ext cx="13644562" cy="47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sz="1911" b="true">
                <a:solidFill>
                  <a:srgbClr val="0F172A"/>
                </a:solidFill>
                <a:latin typeface="Lato Bold"/>
                <a:ea typeface="Lato Bold"/>
                <a:cs typeface="Lato Bold"/>
                <a:sym typeface="Lato Bold"/>
              </a:rPr>
              <a:t>Wireframes y Prototipos UI/UX:</a:t>
            </a:r>
            <a:r>
              <a:rPr lang="en-US" sz="191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Diseños de pantallas en Figma testeados para navegación por toques en pantalla.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43188" y="6193631"/>
            <a:ext cx="13644562" cy="47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sz="1911" b="true">
                <a:solidFill>
                  <a:srgbClr val="0F172A"/>
                </a:solidFill>
                <a:latin typeface="Lato Bold"/>
                <a:ea typeface="Lato Bold"/>
                <a:cs typeface="Lato Bold"/>
                <a:sym typeface="Lato Bold"/>
              </a:rPr>
              <a:t>Matriz de Estimaciones:</a:t>
            </a:r>
            <a:r>
              <a:rPr lang="en-US" sz="191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Planificación de esfuerzo en Story Points por cada tarea del Sprint.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000250" y="4464844"/>
            <a:ext cx="242888" cy="328612"/>
            <a:chOff x="0" y="0"/>
            <a:chExt cx="323850" cy="4381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323850" cy="438150"/>
            </a:xfrm>
            <a:custGeom>
              <a:avLst/>
              <a:gdLst/>
              <a:ahLst/>
              <a:cxnLst/>
              <a:rect r="r" b="b" t="t" l="l"/>
              <a:pathLst>
                <a:path h="438150" w="323850">
                  <a:moveTo>
                    <a:pt x="0" y="0"/>
                  </a:moveTo>
                  <a:lnTo>
                    <a:pt x="323850" y="0"/>
                  </a:lnTo>
                  <a:lnTo>
                    <a:pt x="32385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000250" y="5086350"/>
            <a:ext cx="357188" cy="328612"/>
            <a:chOff x="0" y="0"/>
            <a:chExt cx="476250" cy="43815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476250" cy="438150"/>
            </a:xfrm>
            <a:custGeom>
              <a:avLst/>
              <a:gdLst/>
              <a:ahLst/>
              <a:cxnLst/>
              <a:rect r="r" b="b" t="t" l="l"/>
              <a:pathLst>
                <a:path h="438150" w="476250">
                  <a:moveTo>
                    <a:pt x="0" y="0"/>
                  </a:moveTo>
                  <a:lnTo>
                    <a:pt x="476250" y="0"/>
                  </a:lnTo>
                  <a:lnTo>
                    <a:pt x="47625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0250" y="5707856"/>
            <a:ext cx="314325" cy="328612"/>
            <a:chOff x="0" y="0"/>
            <a:chExt cx="419100" cy="43815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419100" cy="438150"/>
            </a:xfrm>
            <a:custGeom>
              <a:avLst/>
              <a:gdLst/>
              <a:ahLst/>
              <a:cxnLst/>
              <a:rect r="r" b="b" t="t" l="l"/>
              <a:pathLst>
                <a:path h="43815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000250" y="6329362"/>
            <a:ext cx="314325" cy="328612"/>
            <a:chOff x="0" y="0"/>
            <a:chExt cx="419100" cy="43815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419100" cy="438150"/>
            </a:xfrm>
            <a:custGeom>
              <a:avLst/>
              <a:gdLst/>
              <a:ahLst/>
              <a:cxnLst/>
              <a:rect r="r" b="b" t="t" l="l"/>
              <a:pathLst>
                <a:path h="43815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857250" y="657225"/>
            <a:ext cx="17402175" cy="785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0F172A"/>
                </a:solidFill>
                <a:latin typeface="Poppins Bold"/>
                <a:ea typeface="Poppins Bold"/>
                <a:cs typeface="Poppins Bold"/>
                <a:sym typeface="Poppins Bold"/>
              </a:rPr>
              <a:t>Hito N°1: Levantamiento y Artefactos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857250" y="3761184"/>
          <a:ext cx="16535400" cy="3759200"/>
        </p:xfrm>
        <a:graphic>
          <a:graphicData uri="http://schemas.openxmlformats.org/drawingml/2006/table">
            <a:tbl>
              <a:tblPr/>
              <a:tblGrid>
                <a:gridCol w="4366352"/>
                <a:gridCol w="9821369"/>
                <a:gridCol w="2347679"/>
              </a:tblGrid>
              <a:tr h="7518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6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Entregable / Resultado</a:t>
                      </a:r>
                      <a:endParaRPr lang="en-US" sz="1100"/>
                    </a:p>
                  </a:txBody>
                  <a:tcPr marL="91863" marR="91863" marT="91863" marB="9186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6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Descripción del Producto</a:t>
                      </a:r>
                      <a:endParaRPr lang="en-US" sz="1100"/>
                    </a:p>
                  </a:txBody>
                  <a:tcPr marL="91863" marR="91863" marT="91863" marB="9186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6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Estado</a:t>
                      </a:r>
                      <a:endParaRPr lang="en-US" sz="1100"/>
                    </a:p>
                  </a:txBody>
                  <a:tcPr marL="91863" marR="91863" marT="91863" marB="9186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518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4"/>
                        </a:lnSpc>
                        <a:defRPr/>
                      </a:pPr>
                      <a:r>
                        <a:rPr lang="en-US" sz="191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Módulo Horarios y Salas</a:t>
                      </a:r>
                      <a:endParaRPr lang="en-US" sz="1100"/>
                    </a:p>
                  </a:txBody>
                  <a:tcPr marL="91863" marR="91863" marT="91863" marB="9186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4"/>
                        </a:lnSpc>
                        <a:defRPr/>
                      </a:pPr>
                      <a:r>
                        <a:rPr lang="en-US" sz="191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Buscador en tiempo real de ubicación de aulas e imprevistos de horario.</a:t>
                      </a:r>
                      <a:endParaRPr lang="en-US" sz="1100"/>
                    </a:p>
                  </a:txBody>
                  <a:tcPr marL="91863" marR="91863" marT="91863" marB="9186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4"/>
                        </a:lnSpc>
                        <a:defRPr/>
                      </a:pPr>
                      <a:r>
                        <a:rPr lang="en-US" sz="191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Finalizado</a:t>
                      </a:r>
                      <a:endParaRPr lang="en-US" sz="1100"/>
                    </a:p>
                  </a:txBody>
                  <a:tcPr marL="91863" marR="91863" marT="91863" marB="9186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18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4"/>
                        </a:lnSpc>
                        <a:defRPr/>
                      </a:pPr>
                      <a:r>
                        <a:rPr lang="en-US" sz="191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Módulo Cartelera &amp; Noticias</a:t>
                      </a:r>
                      <a:endParaRPr lang="en-US" sz="1100"/>
                    </a:p>
                  </a:txBody>
                  <a:tcPr marL="91863" marR="91863" marT="91863" marB="9186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4"/>
                        </a:lnSpc>
                        <a:defRPr/>
                      </a:pPr>
                      <a:r>
                        <a:rPr lang="en-US" sz="191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Panel dinámico para eventos, avisos académicos y fechas importantes.</a:t>
                      </a:r>
                      <a:endParaRPr lang="en-US" sz="1100"/>
                    </a:p>
                  </a:txBody>
                  <a:tcPr marL="91863" marR="91863" marT="91863" marB="9186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4"/>
                        </a:lnSpc>
                        <a:defRPr/>
                      </a:pPr>
                      <a:r>
                        <a:rPr lang="en-US" sz="191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Finalizado</a:t>
                      </a:r>
                      <a:endParaRPr lang="en-US" sz="1100"/>
                    </a:p>
                  </a:txBody>
                  <a:tcPr marL="91863" marR="91863" marT="91863" marB="9186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7518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4"/>
                        </a:lnSpc>
                        <a:defRPr/>
                      </a:pPr>
                      <a:r>
                        <a:rPr lang="en-US" sz="191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Módulo Punto Estudiantil</a:t>
                      </a:r>
                      <a:endParaRPr lang="en-US" sz="1100"/>
                    </a:p>
                  </a:txBody>
                  <a:tcPr marL="91863" marR="91863" marT="91863" marB="9186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4"/>
                        </a:lnSpc>
                        <a:defRPr/>
                      </a:pPr>
                      <a:r>
                        <a:rPr lang="en-US" sz="191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Guía interactiva sobre TNE, becas, beneficios y contacto presencial.</a:t>
                      </a:r>
                      <a:endParaRPr lang="en-US" sz="1100"/>
                    </a:p>
                  </a:txBody>
                  <a:tcPr marL="91863" marR="91863" marT="91863" marB="9186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4"/>
                        </a:lnSpc>
                        <a:defRPr/>
                      </a:pPr>
                      <a:r>
                        <a:rPr lang="en-US" sz="191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Finalizado</a:t>
                      </a:r>
                      <a:endParaRPr lang="en-US" sz="1100"/>
                    </a:p>
                  </a:txBody>
                  <a:tcPr marL="91863" marR="91863" marT="91863" marB="9186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18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4"/>
                        </a:lnSpc>
                        <a:defRPr/>
                      </a:pPr>
                      <a:r>
                        <a:rPr lang="en-US" sz="191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Modo Kiosco de Seguridad</a:t>
                      </a:r>
                      <a:endParaRPr lang="en-US" sz="1100"/>
                    </a:p>
                  </a:txBody>
                  <a:tcPr marL="91863" marR="91863" marT="91863" marB="9186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4"/>
                        </a:lnSpc>
                        <a:defRPr/>
                      </a:pPr>
                      <a:r>
                        <a:rPr lang="en-US" sz="191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Bloqueo de navegador y sistema operativo para uso exclusivo de la app.</a:t>
                      </a:r>
                      <a:endParaRPr lang="en-US" sz="1100"/>
                    </a:p>
                  </a:txBody>
                  <a:tcPr marL="91863" marR="91863" marT="91863" marB="9186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4"/>
                        </a:lnSpc>
                        <a:defRPr/>
                      </a:pPr>
                      <a:r>
                        <a:rPr lang="en-US" sz="191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Finalizado</a:t>
                      </a:r>
                      <a:endParaRPr lang="en-US" sz="1100"/>
                    </a:p>
                  </a:txBody>
                  <a:tcPr marL="91863" marR="91863" marT="91863" marB="9186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grpSp>
        <p:nvGrpSpPr>
          <p:cNvPr name="Group 5" id="5"/>
          <p:cNvGrpSpPr/>
          <p:nvPr/>
        </p:nvGrpSpPr>
        <p:grpSpPr>
          <a:xfrm rot="0">
            <a:off x="857250" y="4475559"/>
            <a:ext cx="4374452" cy="14288"/>
            <a:chOff x="0" y="0"/>
            <a:chExt cx="5832602" cy="190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832602" cy="19050"/>
            </a:xfrm>
            <a:custGeom>
              <a:avLst/>
              <a:gdLst/>
              <a:ahLst/>
              <a:cxnLst/>
              <a:rect r="r" b="b" t="t" l="l"/>
              <a:pathLst>
                <a:path h="19050" w="5832602">
                  <a:moveTo>
                    <a:pt x="0" y="0"/>
                  </a:moveTo>
                  <a:lnTo>
                    <a:pt x="5832602" y="0"/>
                  </a:lnTo>
                  <a:lnTo>
                    <a:pt x="583260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5231682" y="4475559"/>
            <a:ext cx="9851422" cy="14288"/>
            <a:chOff x="0" y="0"/>
            <a:chExt cx="13135229" cy="190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135229" cy="19050"/>
            </a:xfrm>
            <a:custGeom>
              <a:avLst/>
              <a:gdLst/>
              <a:ahLst/>
              <a:cxnLst/>
              <a:rect r="r" b="b" t="t" l="l"/>
              <a:pathLst>
                <a:path h="19050" w="13135229">
                  <a:moveTo>
                    <a:pt x="0" y="0"/>
                  </a:moveTo>
                  <a:lnTo>
                    <a:pt x="13135229" y="0"/>
                  </a:lnTo>
                  <a:lnTo>
                    <a:pt x="1313522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5083133" y="4475559"/>
            <a:ext cx="2347627" cy="14288"/>
            <a:chOff x="0" y="0"/>
            <a:chExt cx="3130169" cy="190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30169" cy="19050"/>
            </a:xfrm>
            <a:custGeom>
              <a:avLst/>
              <a:gdLst/>
              <a:ahLst/>
              <a:cxnLst/>
              <a:rect r="r" b="b" t="t" l="l"/>
              <a:pathLst>
                <a:path h="19050" w="3130169">
                  <a:moveTo>
                    <a:pt x="0" y="0"/>
                  </a:moveTo>
                  <a:lnTo>
                    <a:pt x="3130169" y="0"/>
                  </a:lnTo>
                  <a:lnTo>
                    <a:pt x="313016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57250" y="5254228"/>
            <a:ext cx="4374452" cy="14288"/>
            <a:chOff x="0" y="0"/>
            <a:chExt cx="5832602" cy="190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832602" cy="19050"/>
            </a:xfrm>
            <a:custGeom>
              <a:avLst/>
              <a:gdLst/>
              <a:ahLst/>
              <a:cxnLst/>
              <a:rect r="r" b="b" t="t" l="l"/>
              <a:pathLst>
                <a:path h="19050" w="5832602">
                  <a:moveTo>
                    <a:pt x="0" y="0"/>
                  </a:moveTo>
                  <a:lnTo>
                    <a:pt x="5832602" y="0"/>
                  </a:lnTo>
                  <a:lnTo>
                    <a:pt x="583260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231682" y="5254228"/>
            <a:ext cx="9851422" cy="14288"/>
            <a:chOff x="0" y="0"/>
            <a:chExt cx="13135229" cy="190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135229" cy="19050"/>
            </a:xfrm>
            <a:custGeom>
              <a:avLst/>
              <a:gdLst/>
              <a:ahLst/>
              <a:cxnLst/>
              <a:rect r="r" b="b" t="t" l="l"/>
              <a:pathLst>
                <a:path h="19050" w="13135229">
                  <a:moveTo>
                    <a:pt x="0" y="0"/>
                  </a:moveTo>
                  <a:lnTo>
                    <a:pt x="13135229" y="0"/>
                  </a:lnTo>
                  <a:lnTo>
                    <a:pt x="1313522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5083133" y="5254228"/>
            <a:ext cx="2347627" cy="14288"/>
            <a:chOff x="0" y="0"/>
            <a:chExt cx="3130169" cy="190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130169" cy="19050"/>
            </a:xfrm>
            <a:custGeom>
              <a:avLst/>
              <a:gdLst/>
              <a:ahLst/>
              <a:cxnLst/>
              <a:rect r="r" b="b" t="t" l="l"/>
              <a:pathLst>
                <a:path h="19050" w="3130169">
                  <a:moveTo>
                    <a:pt x="0" y="0"/>
                  </a:moveTo>
                  <a:lnTo>
                    <a:pt x="3130169" y="0"/>
                  </a:lnTo>
                  <a:lnTo>
                    <a:pt x="313016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57250" y="6032897"/>
            <a:ext cx="4374452" cy="14288"/>
            <a:chOff x="0" y="0"/>
            <a:chExt cx="5832602" cy="190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832602" cy="19050"/>
            </a:xfrm>
            <a:custGeom>
              <a:avLst/>
              <a:gdLst/>
              <a:ahLst/>
              <a:cxnLst/>
              <a:rect r="r" b="b" t="t" l="l"/>
              <a:pathLst>
                <a:path h="19050" w="5832602">
                  <a:moveTo>
                    <a:pt x="0" y="0"/>
                  </a:moveTo>
                  <a:lnTo>
                    <a:pt x="5832602" y="0"/>
                  </a:lnTo>
                  <a:lnTo>
                    <a:pt x="583260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231682" y="6032897"/>
            <a:ext cx="9851422" cy="14288"/>
            <a:chOff x="0" y="0"/>
            <a:chExt cx="13135229" cy="190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135229" cy="19050"/>
            </a:xfrm>
            <a:custGeom>
              <a:avLst/>
              <a:gdLst/>
              <a:ahLst/>
              <a:cxnLst/>
              <a:rect r="r" b="b" t="t" l="l"/>
              <a:pathLst>
                <a:path h="19050" w="13135229">
                  <a:moveTo>
                    <a:pt x="0" y="0"/>
                  </a:moveTo>
                  <a:lnTo>
                    <a:pt x="13135229" y="0"/>
                  </a:lnTo>
                  <a:lnTo>
                    <a:pt x="1313522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5083133" y="6032897"/>
            <a:ext cx="2347627" cy="14288"/>
            <a:chOff x="0" y="0"/>
            <a:chExt cx="3130169" cy="190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130169" cy="19050"/>
            </a:xfrm>
            <a:custGeom>
              <a:avLst/>
              <a:gdLst/>
              <a:ahLst/>
              <a:cxnLst/>
              <a:rect r="r" b="b" t="t" l="l"/>
              <a:pathLst>
                <a:path h="19050" w="3130169">
                  <a:moveTo>
                    <a:pt x="0" y="0"/>
                  </a:moveTo>
                  <a:lnTo>
                    <a:pt x="3130169" y="0"/>
                  </a:lnTo>
                  <a:lnTo>
                    <a:pt x="313016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57250" y="6811566"/>
            <a:ext cx="4374452" cy="14288"/>
            <a:chOff x="0" y="0"/>
            <a:chExt cx="5832602" cy="190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832602" cy="19050"/>
            </a:xfrm>
            <a:custGeom>
              <a:avLst/>
              <a:gdLst/>
              <a:ahLst/>
              <a:cxnLst/>
              <a:rect r="r" b="b" t="t" l="l"/>
              <a:pathLst>
                <a:path h="19050" w="5832602">
                  <a:moveTo>
                    <a:pt x="0" y="0"/>
                  </a:moveTo>
                  <a:lnTo>
                    <a:pt x="5832602" y="0"/>
                  </a:lnTo>
                  <a:lnTo>
                    <a:pt x="583260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231682" y="6811566"/>
            <a:ext cx="9851422" cy="14288"/>
            <a:chOff x="0" y="0"/>
            <a:chExt cx="13135229" cy="190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135229" cy="19050"/>
            </a:xfrm>
            <a:custGeom>
              <a:avLst/>
              <a:gdLst/>
              <a:ahLst/>
              <a:cxnLst/>
              <a:rect r="r" b="b" t="t" l="l"/>
              <a:pathLst>
                <a:path h="19050" w="13135229">
                  <a:moveTo>
                    <a:pt x="0" y="0"/>
                  </a:moveTo>
                  <a:lnTo>
                    <a:pt x="13135229" y="0"/>
                  </a:lnTo>
                  <a:lnTo>
                    <a:pt x="1313522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5083133" y="6811566"/>
            <a:ext cx="2347627" cy="14288"/>
            <a:chOff x="0" y="0"/>
            <a:chExt cx="3130169" cy="190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130169" cy="19050"/>
            </a:xfrm>
            <a:custGeom>
              <a:avLst/>
              <a:gdLst/>
              <a:ahLst/>
              <a:cxnLst/>
              <a:rect r="r" b="b" t="t" l="l"/>
              <a:pathLst>
                <a:path h="19050" w="3130169">
                  <a:moveTo>
                    <a:pt x="0" y="0"/>
                  </a:moveTo>
                  <a:lnTo>
                    <a:pt x="3130169" y="0"/>
                  </a:lnTo>
                  <a:lnTo>
                    <a:pt x="313016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57250" y="7590234"/>
            <a:ext cx="4374452" cy="14288"/>
            <a:chOff x="0" y="0"/>
            <a:chExt cx="5832602" cy="190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832602" cy="19050"/>
            </a:xfrm>
            <a:custGeom>
              <a:avLst/>
              <a:gdLst/>
              <a:ahLst/>
              <a:cxnLst/>
              <a:rect r="r" b="b" t="t" l="l"/>
              <a:pathLst>
                <a:path h="19050" w="5832602">
                  <a:moveTo>
                    <a:pt x="0" y="0"/>
                  </a:moveTo>
                  <a:lnTo>
                    <a:pt x="5832602" y="0"/>
                  </a:lnTo>
                  <a:lnTo>
                    <a:pt x="583260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5231682" y="7590234"/>
            <a:ext cx="9851422" cy="14288"/>
            <a:chOff x="0" y="0"/>
            <a:chExt cx="13135229" cy="190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135229" cy="19050"/>
            </a:xfrm>
            <a:custGeom>
              <a:avLst/>
              <a:gdLst/>
              <a:ahLst/>
              <a:cxnLst/>
              <a:rect r="r" b="b" t="t" l="l"/>
              <a:pathLst>
                <a:path h="19050" w="13135229">
                  <a:moveTo>
                    <a:pt x="0" y="0"/>
                  </a:moveTo>
                  <a:lnTo>
                    <a:pt x="13135229" y="0"/>
                  </a:lnTo>
                  <a:lnTo>
                    <a:pt x="1313522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5083133" y="7590234"/>
            <a:ext cx="2347627" cy="14288"/>
            <a:chOff x="0" y="0"/>
            <a:chExt cx="3130169" cy="190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130169" cy="19050"/>
            </a:xfrm>
            <a:custGeom>
              <a:avLst/>
              <a:gdLst/>
              <a:ahLst/>
              <a:cxnLst/>
              <a:rect r="r" b="b" t="t" l="l"/>
              <a:pathLst>
                <a:path h="19050" w="3130169">
                  <a:moveTo>
                    <a:pt x="0" y="0"/>
                  </a:moveTo>
                  <a:lnTo>
                    <a:pt x="3130169" y="0"/>
                  </a:lnTo>
                  <a:lnTo>
                    <a:pt x="313016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5340308" y="5532834"/>
            <a:ext cx="242888" cy="242888"/>
            <a:chOff x="0" y="0"/>
            <a:chExt cx="323850" cy="323850"/>
          </a:xfrm>
        </p:grpSpPr>
        <p:sp>
          <p:nvSpPr>
            <p:cNvPr name="Freeform 36" id="36" descr="image.png"/>
            <p:cNvSpPr/>
            <p:nvPr/>
          </p:nvSpPr>
          <p:spPr>
            <a:xfrm flipH="false" flipV="false" rot="0">
              <a:off x="0" y="0"/>
              <a:ext cx="323850" cy="323850"/>
            </a:xfrm>
            <a:custGeom>
              <a:avLst/>
              <a:gdLst/>
              <a:ahLst/>
              <a:cxnLst/>
              <a:rect r="r" b="b" t="t" l="l"/>
              <a:pathLst>
                <a:path h="323850" w="323850">
                  <a:moveTo>
                    <a:pt x="0" y="0"/>
                  </a:moveTo>
                  <a:lnTo>
                    <a:pt x="323850" y="0"/>
                  </a:lnTo>
                  <a:lnTo>
                    <a:pt x="323850" y="323850"/>
                  </a:lnTo>
                  <a:lnTo>
                    <a:pt x="0" y="323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5340308" y="4754166"/>
            <a:ext cx="242888" cy="242888"/>
            <a:chOff x="0" y="0"/>
            <a:chExt cx="323850" cy="323850"/>
          </a:xfrm>
        </p:grpSpPr>
        <p:sp>
          <p:nvSpPr>
            <p:cNvPr name="Freeform 38" id="38" descr="image.png"/>
            <p:cNvSpPr/>
            <p:nvPr/>
          </p:nvSpPr>
          <p:spPr>
            <a:xfrm flipH="false" flipV="false" rot="0">
              <a:off x="0" y="0"/>
              <a:ext cx="323850" cy="323850"/>
            </a:xfrm>
            <a:custGeom>
              <a:avLst/>
              <a:gdLst/>
              <a:ahLst/>
              <a:cxnLst/>
              <a:rect r="r" b="b" t="t" l="l"/>
              <a:pathLst>
                <a:path h="323850" w="323850">
                  <a:moveTo>
                    <a:pt x="0" y="0"/>
                  </a:moveTo>
                  <a:lnTo>
                    <a:pt x="323850" y="0"/>
                  </a:lnTo>
                  <a:lnTo>
                    <a:pt x="323850" y="323850"/>
                  </a:lnTo>
                  <a:lnTo>
                    <a:pt x="0" y="323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5340308" y="6311503"/>
            <a:ext cx="242888" cy="242888"/>
            <a:chOff x="0" y="0"/>
            <a:chExt cx="323850" cy="323850"/>
          </a:xfrm>
        </p:grpSpPr>
        <p:sp>
          <p:nvSpPr>
            <p:cNvPr name="Freeform 40" id="40" descr="image.png"/>
            <p:cNvSpPr/>
            <p:nvPr/>
          </p:nvSpPr>
          <p:spPr>
            <a:xfrm flipH="false" flipV="false" rot="0">
              <a:off x="0" y="0"/>
              <a:ext cx="323850" cy="323850"/>
            </a:xfrm>
            <a:custGeom>
              <a:avLst/>
              <a:gdLst/>
              <a:ahLst/>
              <a:cxnLst/>
              <a:rect r="r" b="b" t="t" l="l"/>
              <a:pathLst>
                <a:path h="323850" w="323850">
                  <a:moveTo>
                    <a:pt x="0" y="0"/>
                  </a:moveTo>
                  <a:lnTo>
                    <a:pt x="323850" y="0"/>
                  </a:lnTo>
                  <a:lnTo>
                    <a:pt x="323850" y="323850"/>
                  </a:lnTo>
                  <a:lnTo>
                    <a:pt x="0" y="323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5340308" y="7090172"/>
            <a:ext cx="242888" cy="242888"/>
            <a:chOff x="0" y="0"/>
            <a:chExt cx="323850" cy="323850"/>
          </a:xfrm>
        </p:grpSpPr>
        <p:sp>
          <p:nvSpPr>
            <p:cNvPr name="Freeform 42" id="42" descr="image.png"/>
            <p:cNvSpPr/>
            <p:nvPr/>
          </p:nvSpPr>
          <p:spPr>
            <a:xfrm flipH="false" flipV="false" rot="0">
              <a:off x="0" y="0"/>
              <a:ext cx="323850" cy="323850"/>
            </a:xfrm>
            <a:custGeom>
              <a:avLst/>
              <a:gdLst/>
              <a:ahLst/>
              <a:cxnLst/>
              <a:rect r="r" b="b" t="t" l="l"/>
              <a:pathLst>
                <a:path h="323850" w="323850">
                  <a:moveTo>
                    <a:pt x="0" y="0"/>
                  </a:moveTo>
                  <a:lnTo>
                    <a:pt x="323850" y="0"/>
                  </a:lnTo>
                  <a:lnTo>
                    <a:pt x="323850" y="323850"/>
                  </a:lnTo>
                  <a:lnTo>
                    <a:pt x="0" y="323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5340308" y="4754166"/>
            <a:ext cx="242888" cy="242888"/>
            <a:chOff x="0" y="0"/>
            <a:chExt cx="323850" cy="323850"/>
          </a:xfrm>
        </p:grpSpPr>
        <p:sp>
          <p:nvSpPr>
            <p:cNvPr name="Freeform 44" id="44" descr="image.png"/>
            <p:cNvSpPr/>
            <p:nvPr/>
          </p:nvSpPr>
          <p:spPr>
            <a:xfrm flipH="false" flipV="false" rot="0">
              <a:off x="0" y="0"/>
              <a:ext cx="323850" cy="323850"/>
            </a:xfrm>
            <a:custGeom>
              <a:avLst/>
              <a:gdLst/>
              <a:ahLst/>
              <a:cxnLst/>
              <a:rect r="r" b="b" t="t" l="l"/>
              <a:pathLst>
                <a:path h="323850" w="323850">
                  <a:moveTo>
                    <a:pt x="0" y="0"/>
                  </a:moveTo>
                  <a:lnTo>
                    <a:pt x="323850" y="0"/>
                  </a:lnTo>
                  <a:lnTo>
                    <a:pt x="323850" y="323850"/>
                  </a:lnTo>
                  <a:lnTo>
                    <a:pt x="0" y="323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5340308" y="5532834"/>
            <a:ext cx="242888" cy="242888"/>
            <a:chOff x="0" y="0"/>
            <a:chExt cx="323850" cy="323850"/>
          </a:xfrm>
        </p:grpSpPr>
        <p:sp>
          <p:nvSpPr>
            <p:cNvPr name="Freeform 46" id="46" descr="image.png"/>
            <p:cNvSpPr/>
            <p:nvPr/>
          </p:nvSpPr>
          <p:spPr>
            <a:xfrm flipH="false" flipV="false" rot="0">
              <a:off x="0" y="0"/>
              <a:ext cx="323850" cy="323850"/>
            </a:xfrm>
            <a:custGeom>
              <a:avLst/>
              <a:gdLst/>
              <a:ahLst/>
              <a:cxnLst/>
              <a:rect r="r" b="b" t="t" l="l"/>
              <a:pathLst>
                <a:path h="323850" w="323850">
                  <a:moveTo>
                    <a:pt x="0" y="0"/>
                  </a:moveTo>
                  <a:lnTo>
                    <a:pt x="323850" y="0"/>
                  </a:lnTo>
                  <a:lnTo>
                    <a:pt x="323850" y="323850"/>
                  </a:lnTo>
                  <a:lnTo>
                    <a:pt x="0" y="323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5340308" y="6311503"/>
            <a:ext cx="242888" cy="242888"/>
            <a:chOff x="0" y="0"/>
            <a:chExt cx="323850" cy="323850"/>
          </a:xfrm>
        </p:grpSpPr>
        <p:sp>
          <p:nvSpPr>
            <p:cNvPr name="Freeform 48" id="48" descr="image.png"/>
            <p:cNvSpPr/>
            <p:nvPr/>
          </p:nvSpPr>
          <p:spPr>
            <a:xfrm flipH="false" flipV="false" rot="0">
              <a:off x="0" y="0"/>
              <a:ext cx="323850" cy="323850"/>
            </a:xfrm>
            <a:custGeom>
              <a:avLst/>
              <a:gdLst/>
              <a:ahLst/>
              <a:cxnLst/>
              <a:rect r="r" b="b" t="t" l="l"/>
              <a:pathLst>
                <a:path h="323850" w="323850">
                  <a:moveTo>
                    <a:pt x="0" y="0"/>
                  </a:moveTo>
                  <a:lnTo>
                    <a:pt x="323850" y="0"/>
                  </a:lnTo>
                  <a:lnTo>
                    <a:pt x="323850" y="323850"/>
                  </a:lnTo>
                  <a:lnTo>
                    <a:pt x="0" y="323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5340308" y="7090172"/>
            <a:ext cx="242888" cy="242888"/>
            <a:chOff x="0" y="0"/>
            <a:chExt cx="323850" cy="323850"/>
          </a:xfrm>
        </p:grpSpPr>
        <p:sp>
          <p:nvSpPr>
            <p:cNvPr name="Freeform 50" id="50" descr="image.png"/>
            <p:cNvSpPr/>
            <p:nvPr/>
          </p:nvSpPr>
          <p:spPr>
            <a:xfrm flipH="false" flipV="false" rot="0">
              <a:off x="0" y="0"/>
              <a:ext cx="323850" cy="323850"/>
            </a:xfrm>
            <a:custGeom>
              <a:avLst/>
              <a:gdLst/>
              <a:ahLst/>
              <a:cxnLst/>
              <a:rect r="r" b="b" t="t" l="l"/>
              <a:pathLst>
                <a:path h="323850" w="323850">
                  <a:moveTo>
                    <a:pt x="0" y="0"/>
                  </a:moveTo>
                  <a:lnTo>
                    <a:pt x="323850" y="0"/>
                  </a:lnTo>
                  <a:lnTo>
                    <a:pt x="323850" y="323850"/>
                  </a:lnTo>
                  <a:lnTo>
                    <a:pt x="0" y="323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857250" y="657225"/>
            <a:ext cx="17402175" cy="785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0F172A"/>
                </a:solidFill>
                <a:latin typeface="Poppins Bold"/>
                <a:ea typeface="Poppins Bold"/>
                <a:cs typeface="Poppins Bold"/>
                <a:sym typeface="Poppins Bold"/>
              </a:rPr>
              <a:t>Resultados del Proyecto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132534" y="4957762"/>
            <a:ext cx="3486150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75"/>
              </a:lnSpc>
            </a:pPr>
            <a:r>
              <a:rPr lang="en-US" sz="12375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85%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03997" y="6281737"/>
            <a:ext cx="294322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Lato Bold"/>
                <a:ea typeface="Lato Bold"/>
                <a:cs typeface="Lato Bold"/>
                <a:sym typeface="Lato Bold"/>
              </a:rPr>
              <a:t>Autonomía de Consulta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394031" y="4672013"/>
            <a:ext cx="8438550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Métricas de Éxito Alcanzadas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94031" y="5229225"/>
            <a:ext cx="8036719" cy="1207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sz="191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 estima que el 85% de las consultas frecuentes sobre salas y horarios se resolverán de manera autónoma en el tótem, disminuyendo drásticamente el tiempo de fila en Punto Estudiantil y mejorando la satisfacción estudiantil.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7250" y="657225"/>
            <a:ext cx="17402175" cy="785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0F172A"/>
                </a:solidFill>
                <a:latin typeface="Poppins Bold"/>
                <a:ea typeface="Poppins Bold"/>
                <a:cs typeface="Poppins Bold"/>
                <a:sym typeface="Poppins Bold"/>
              </a:rPr>
              <a:t>Impacto e Indicadores Clave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4432697"/>
            <a:ext cx="8036719" cy="2507456"/>
            <a:chOff x="0" y="0"/>
            <a:chExt cx="10715625" cy="3343275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715625" cy="3343275"/>
            </a:xfrm>
            <a:custGeom>
              <a:avLst/>
              <a:gdLst/>
              <a:ahLst/>
              <a:cxnLst/>
              <a:rect r="r" b="b" t="t" l="l"/>
              <a:pathLst>
                <a:path h="3343275" w="10715625">
                  <a:moveTo>
                    <a:pt x="0" y="0"/>
                  </a:moveTo>
                  <a:lnTo>
                    <a:pt x="10715625" y="0"/>
                  </a:lnTo>
                  <a:lnTo>
                    <a:pt x="10715625" y="3343275"/>
                  </a:lnTo>
                  <a:lnTo>
                    <a:pt x="0" y="33432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8" r="0" b="-9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394031" y="4432697"/>
            <a:ext cx="8036719" cy="2507456"/>
            <a:chOff x="0" y="0"/>
            <a:chExt cx="10715625" cy="3343275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715625" cy="3343275"/>
            </a:xfrm>
            <a:custGeom>
              <a:avLst/>
              <a:gdLst/>
              <a:ahLst/>
              <a:cxnLst/>
              <a:rect r="r" b="b" t="t" l="l"/>
              <a:pathLst>
                <a:path h="3343275" w="10715625">
                  <a:moveTo>
                    <a:pt x="0" y="0"/>
                  </a:moveTo>
                  <a:lnTo>
                    <a:pt x="10715625" y="0"/>
                  </a:lnTo>
                  <a:lnTo>
                    <a:pt x="10715625" y="3343275"/>
                  </a:lnTo>
                  <a:lnTo>
                    <a:pt x="0" y="33432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98" r="0" b="-98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328738" y="4775597"/>
            <a:ext cx="7523436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Cumplimiento de Objetivos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28738" y="5332809"/>
            <a:ext cx="7165181" cy="1207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sz="191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 logró desarrollar una solución funcional alineada con los requerimientos de Sede San Bernardo, demostrando la eficacia del marco Scrum en proyectos de TI.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65519" y="4775597"/>
            <a:ext cx="7523436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Proyección de Escalabilidad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65519" y="5332809"/>
            <a:ext cx="7165181" cy="1207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sz="191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 arquitectura modular construida en Laravel permite replicar esta solución en otras sedes de Duoc UC e integrar nuevos servicios como reserva de computadores.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7250" y="657225"/>
            <a:ext cx="17402175" cy="785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0F172A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Conclusiones y Proyección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42912" y="581025"/>
            <a:ext cx="17402175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80"/>
              </a:lnSpc>
            </a:pPr>
            <a:r>
              <a:rPr lang="en-US" sz="7650" b="true">
                <a:solidFill>
                  <a:srgbClr val="0F172A"/>
                </a:solidFill>
                <a:latin typeface="Poppins Bold"/>
                <a:ea typeface="Poppins Bold"/>
                <a:cs typeface="Poppins Bold"/>
                <a:sym typeface="Poppins Bold"/>
              </a:rPr>
              <a:t>¿Preguntas?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7250" y="2233612"/>
            <a:ext cx="16573500" cy="623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2"/>
              </a:lnSpc>
            </a:pPr>
            <a:r>
              <a:rPr lang="en-US" sz="24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Muchas gracias a los miembros de la comisión evaluadora.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7250" y="3228975"/>
            <a:ext cx="1657350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Duoc UC Sede San Bernardo — Escuela de Informática y Telecomunicaciones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DAHVUK2TMTc</dc:identifier>
  <dcterms:modified xsi:type="dcterms:W3CDTF">2011-08-01T06:04:30Z</dcterms:modified>
  <cp:revision>1</cp:revision>
  <dc:title>Tótem Informativo Duoc UC - Comisión N°4.pptx_20260915_211040_0000.pptx</dc:title>
</cp:coreProperties>
</file>